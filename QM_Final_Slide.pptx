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2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89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688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10058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U.S. Treasury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Primary Findings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2423160"/>
            <a:ext cx="2011680" cy="274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2514600"/>
            <a:ext cx="2103120" cy="45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ADCFC"/>
                </a:solidFill>
                <a:latin typeface="Palatino Linotype" pitchFamily="34" charset="0"/>
              </a:rPr>
              <a:t>Arianna Rahmathulla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37160" y="4754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9BB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Data: U.S. FRED Database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71455" y="196596"/>
            <a:ext cx="148132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71455" y="196596"/>
            <a:ext cx="1481328" cy="50292"/>
          </a:xfrm>
          <a:prstGeom prst="rect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44607" y="288036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81.9%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44607" y="745236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5D8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PC1 Variance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44607" y="94640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Level factor alone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80799" y="196596"/>
            <a:ext cx="148132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80799" y="196596"/>
            <a:ext cx="1481328" cy="50292"/>
          </a:xfrm>
          <a:prstGeom prst="rect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53951" y="288036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MA(3)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53951" y="745236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5D8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ARMA Order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53951" y="94640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AIC = −19,715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90143" y="196596"/>
            <a:ext cx="148132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F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90143" y="196596"/>
            <a:ext cx="1481328" cy="50292"/>
          </a:xfrm>
          <a:prstGeom prst="rect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63295" y="288036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0.9953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63295" y="745236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5D8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GARCH Persistence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63295" y="94640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α + β, near unit-root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85397" y="1388086"/>
            <a:ext cx="2084832" cy="2914581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595649" y="1388086"/>
            <a:ext cx="64078" cy="2914582"/>
          </a:xfrm>
          <a:prstGeom prst="rect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2734056" y="1496014"/>
            <a:ext cx="347472" cy="347472"/>
          </a:xfrm>
          <a:prstGeom prst="ellipse">
            <a:avLst/>
          </a:prstGeom>
          <a:solidFill>
            <a:srgbClr val="2E5D8E"/>
          </a:solidFill>
          <a:ln w="12700">
            <a:solidFill>
              <a:srgbClr val="2E5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34056" y="14868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06624" y="190749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PCA: Two Factors Rule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06624" y="2364694"/>
            <a:ext cx="1828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0" y="2455441"/>
            <a:ext cx="17922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PC1 (Level) explains 81.9% of variance alone</a:t>
            </a:r>
            <a:endParaRPr lang="en-US" sz="9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PC1 + PC2 (Slope) explain 98.7% — curve dynamics are low-dimensional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9744" y="1385316"/>
            <a:ext cx="2084832" cy="291181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809744" y="1385316"/>
            <a:ext cx="91440" cy="2914581"/>
          </a:xfrm>
          <a:prstGeom prst="rect">
            <a:avLst/>
          </a:prstGeom>
          <a:solidFill>
            <a:srgbClr val="1A6B5E"/>
          </a:solidFill>
          <a:ln w="12700">
            <a:solidFill>
              <a:srgbClr val="1A6B5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946904" y="1496014"/>
            <a:ext cx="347472" cy="347472"/>
          </a:xfrm>
          <a:prstGeom prst="ellipse">
            <a:avLst/>
          </a:prstGeom>
          <a:solidFill>
            <a:srgbClr val="1A6B5E"/>
          </a:solidFill>
          <a:ln w="12700">
            <a:solidFill>
              <a:srgbClr val="1A6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46904" y="14868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②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19472" y="190749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ADF + ARMA: Short-Memory Mean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19472" y="2364694"/>
            <a:ext cx="1828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65192" y="2454887"/>
            <a:ext cx="17922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Spread in levels has a unit root (ADF p = 0.493) — first differences required</a:t>
            </a:r>
            <a:endParaRPr lang="en-US" sz="9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MA(3) best by AIC: shocks absorbed over ~3 trading days</a:t>
            </a:r>
            <a:endParaRPr lang="en-US" sz="9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Only 3rd MA lag is significant — market efficiently prices info within a week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63295" y="1385316"/>
            <a:ext cx="2084832" cy="2917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963295" y="1388086"/>
            <a:ext cx="89084" cy="291458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159752" y="1496014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59752" y="14868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③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132320" y="190749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GARCH: Volatility Clusters at Crises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132320" y="2364694"/>
            <a:ext cx="1828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54141" y="2455441"/>
            <a:ext cx="17922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ARCH-LM overwhelmingly rejects constant variance (LM = 487.5)</a:t>
            </a:r>
            <a:endParaRPr lang="en-US" sz="9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α + β = 0.9953 — volatility shocks are extremely persistent</a:t>
            </a:r>
            <a:endParaRPr lang="en-US" sz="9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Conditional vol spikes at Lehman (2008), COVID (2020), rate hikes (2022)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691869" y="4484854"/>
            <a:ext cx="6254496" cy="27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4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Insight: </a:t>
            </a:r>
            <a:r>
              <a:rPr lang="en-US" sz="1200" b="1" dirty="0"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Static risk models assuming constant spread volatility would dramatically underestimate tail risk during macro stress periods. GARCH conditional volatility provides a real-time measure of this risk</a:t>
            </a:r>
            <a:endParaRPr lang="en-US" sz="1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202</Words>
  <Application>Microsoft Office PowerPoint</Application>
  <PresentationFormat>On-screen Show (16:9)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Palatino Linotype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Arianna Rahmathulla</cp:lastModifiedBy>
  <cp:revision>2</cp:revision>
  <dcterms:created xsi:type="dcterms:W3CDTF">2026-04-23T02:02:17Z</dcterms:created>
  <dcterms:modified xsi:type="dcterms:W3CDTF">2026-04-23T02:10:28Z</dcterms:modified>
</cp:coreProperties>
</file>